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xml" ContentType="application/xml"/>
  <Default Extension="rels" ContentType="application/vnd.openxmlformats-package.relationship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9" Type="http://schemas.openxmlformats.org/officeDocument/2006/relationships/slide" Target="slides/slide9.xml" /><Relationship Id="rId4" Type="http://schemas.openxmlformats.org/officeDocument/2006/relationships/slide" Target="slides/slide4.xml" /><Relationship Id="rId10" Type="http://schemas.openxmlformats.org/officeDocument/2006/relationships/slide" Target="slides/slide10.xml" /><Relationship Id="rId3" Type="http://schemas.openxmlformats.org/officeDocument/2006/relationships/slide" Target="slides/slide3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15" Type="http://schemas.openxmlformats.org/officeDocument/2006/relationships/tableStyles" Target="tableStyles.xml" /><Relationship Id="rId14" Type="http://schemas.openxmlformats.org/officeDocument/2006/relationships/presProps" Target="presProps.xml" /><Relationship Id="rId13" Type="http://schemas.openxmlformats.org/officeDocument/2006/relationships/notesMaster" Target="notesMasters/notesMaster1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3" Type="http://schemas.openxmlformats.org/officeDocument/2006/relationships/image" Target="media/image8.svg" /><Relationship Id="rId2" Type="http://schemas.openxmlformats.org/officeDocument/2006/relationships/image" Target="media/image7.svg" /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7" Type="http://schemas.openxmlformats.org/officeDocument/2006/relationships/image" Target="media/image15.png" /><Relationship Id="rId4" Type="http://schemas.openxmlformats.org/officeDocument/2006/relationships/image" Target="media/image12.svg" /><Relationship Id="rId2" Type="http://schemas.openxmlformats.org/officeDocument/2006/relationships/image" Target="media/image10.svg" /><Relationship Id="rId6" Type="http://schemas.openxmlformats.org/officeDocument/2006/relationships/image" Target="media/image14.svg" /><Relationship Id="rId3" Type="http://schemas.openxmlformats.org/officeDocument/2006/relationships/image" Target="media/image11.svg" /><Relationship Id="rId1" Type="http://schemas.openxmlformats.org/officeDocument/2006/relationships/image" Target="media/image9.svg" /><Relationship Id="rId5" Type="http://schemas.openxmlformats.org/officeDocument/2006/relationships/image" Target="media/image13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6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image" Target="media/image19.svg" /><Relationship Id="rId2" Type="http://schemas.openxmlformats.org/officeDocument/2006/relationships/image" Target="media/image18.svg" /><Relationship Id="rId4" Type="http://schemas.openxmlformats.org/officeDocument/2006/relationships/image" Target="media/image20.png" /><Relationship Id="rId1" Type="http://schemas.openxmlformats.org/officeDocument/2006/relationships/image" Target="media/image17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3" Type="http://schemas.openxmlformats.org/officeDocument/2006/relationships/image" Target="media/image23.svg" /><Relationship Id="rId1" Type="http://schemas.openxmlformats.org/officeDocument/2006/relationships/image" Target="media/image21.png" /><Relationship Id="rId2" Type="http://schemas.openxmlformats.org/officeDocument/2006/relationships/image" Target="media/image22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4" Type="http://schemas.openxmlformats.org/officeDocument/2006/relationships/image" Target="media/image27.png" /><Relationship Id="rId2" Type="http://schemas.openxmlformats.org/officeDocument/2006/relationships/image" Target="media/image25.svg" /><Relationship Id="rId1" Type="http://schemas.openxmlformats.org/officeDocument/2006/relationships/image" Target="media/image24.svg" /><Relationship Id="rId3" Type="http://schemas.openxmlformats.org/officeDocument/2006/relationships/image" Target="media/image26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8.pn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image" Target="media/image5.svg" /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7429500" cy="6858000"/>
          </a:xfrm>
          <a:prstGeom prst="rect">
            <a:avLst/>
          </a:prstGeom>
          <a:gradFill>
            <a:gsLst>
              <a:gs pos="0">
                <a:srgbClr val="0F172A">
                  <a:alpha val="88000"/>
                </a:srgbClr>
              </a:gs>
              <a:gs pos="55000">
                <a:srgbClr val="0F172A">
                  <a:alpha val="55000"/>
                </a:srgbClr>
              </a:gs>
              <a:gs pos="100000">
                <a:srgbClr val="0F172A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7810500" y="5143500"/>
            <a:ext cx="4381500" cy="1714500"/>
          </a:xfrm>
          <a:prstGeom prst="rect">
            <a:avLst/>
          </a:prstGeom>
          <a:gradFill>
            <a:gsLst>
              <a:gs pos="0">
                <a:srgbClr val="0F172A">
                  <a:alpha val="85000"/>
                </a:srgbClr>
              </a:gs>
              <a:gs pos="100000">
                <a:srgbClr val="0F172A">
                  <a:alpha val="0"/>
                </a:srgbClr>
              </a:gs>
            </a:gsLst>
            <a:lin ang="135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762000" y="2000250"/>
            <a:ext cx="8382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324100"/>
            <a:ext cx="5486400" cy="1638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 spc="150">
                <a:solidFill>
                  <a:srgbClr val="FFFFFF"/>
                </a:solidFill>
                <a:latin typeface="Microsoft YaHei"/>
                <a:ea typeface="Microsoft YaHei"/>
              </a:rPr>
              <a:t>空中ジェスチャー</a:t>
            </a:r>
            <a:endParaRPr/>
          </a:p>
          <a:p>
            <a:pPr>
              <a:lnSpc>
                <a:spcPct val="114999"/>
              </a:lnSpc>
            </a:pPr>
            <a:r>
              <a:rPr lang="zh-CN" sz="4650" b="1" spc="150">
                <a:solidFill>
                  <a:srgbClr val="FFFFFF"/>
                </a:solidFill>
                <a:latin typeface="Microsoft YaHei"/>
                <a:ea typeface="Microsoft YaHei"/>
              </a:rPr>
              <a:t>お絵かきキャンバス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4133850"/>
            <a:ext cx="5486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spc="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Air Gesture Drawing Canvas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4648200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手をペンに、空気をキャンバスに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762000" y="6219825"/>
            <a:ext cx="342900" cy="1905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238250" y="6134100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プロジェクト紹介</a:t>
            </a:r>
            <a:r>
              <a:rPr lang="en-US" sz="1200" spc="15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 · 2026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9600" y="53340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00100" y="571500"/>
            <a:ext cx="1609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64748B"/>
                </a:solidFill>
                <a:latin typeface="Microsoft YaHei"/>
                <a:ea typeface="Microsoft YaHei"/>
              </a:rPr>
              <a:t>CONTENTS・</a:t>
            </a:r>
            <a:r>
              <a:rPr lang="zh-CN" sz="1200" spc="225">
                <a:solidFill>
                  <a:srgbClr val="64748B"/>
                </a:solidFill>
                <a:latin typeface="Microsoft YaHei"/>
                <a:ea typeface="Microsoft YaHei"/>
              </a:rPr>
              <a:t>目次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2466975"/>
            <a:ext cx="34290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200" b="1">
                <a:solidFill>
                  <a:srgbClr val="1E293B"/>
                </a:solidFill>
                <a:latin typeface="Microsoft YaHei"/>
                <a:ea typeface="Microsoft YaHei"/>
              </a:rPr>
              <a:t>目次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09600" y="380047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4105275"/>
            <a:ext cx="34290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ひとつのジェスチャーから、一枚の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AI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作品まで。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このプロジェクトの全体像をご紹介します。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4648200" y="2009775"/>
            <a:ext cx="6934200" cy="752475"/>
          </a:xfrm>
          <a:custGeom>
            <a:pathLst>
              <a:path w="728" h="79">
                <a:moveTo>
                  <a:pt x="0" y="78"/>
                </a:moveTo>
                <a:lnTo>
                  <a:pt x="728" y="78"/>
                </a:lnTo>
                <a:lnTo>
                  <a:pt x="728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4648200" y="2009775"/>
            <a:ext cx="762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75">
                <a:solidFill>
                  <a:srgbClr val="F97316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562600" y="2009775"/>
            <a:ext cx="6019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93B"/>
                </a:solidFill>
                <a:latin typeface="Microsoft YaHei"/>
                <a:ea typeface="Microsoft YaHei"/>
              </a:rPr>
              <a:t>プロジェクトの位置づけ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562600" y="2314575"/>
            <a:ext cx="6019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カメラひとつで、空気を協働できるキャンバスに変える。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4648200" y="2962275"/>
            <a:ext cx="6934200" cy="752475"/>
          </a:xfrm>
          <a:custGeom>
            <a:pathLst>
              <a:path w="728" h="79">
                <a:moveTo>
                  <a:pt x="0" y="78"/>
                </a:moveTo>
                <a:lnTo>
                  <a:pt x="728" y="78"/>
                </a:lnTo>
                <a:lnTo>
                  <a:pt x="728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648200" y="2962275"/>
            <a:ext cx="762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75">
                <a:solidFill>
                  <a:srgbClr val="F97316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562600" y="2962275"/>
            <a:ext cx="6019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293B"/>
                </a:solidFill>
                <a:latin typeface="Microsoft YaHei"/>
                <a:ea typeface="Microsoft YaHei"/>
              </a:rPr>
              <a:t>3つのコア</a:t>
            </a:r>
            <a:r>
              <a:rPr lang="zh-CN" sz="1575" b="1">
                <a:solidFill>
                  <a:srgbClr val="1E293B"/>
                </a:solidFill>
                <a:latin typeface="Microsoft YaHei"/>
                <a:ea typeface="Microsoft YaHei"/>
              </a:rPr>
              <a:t>機能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562600" y="3267075"/>
            <a:ext cx="6019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ジェスチャー描画・多人リアルタイム協働・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画像生成。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4648200" y="3914775"/>
            <a:ext cx="6934200" cy="752475"/>
          </a:xfrm>
          <a:custGeom>
            <a:pathLst>
              <a:path w="728" h="79">
                <a:moveTo>
                  <a:pt x="0" y="78"/>
                </a:moveTo>
                <a:lnTo>
                  <a:pt x="728" y="78"/>
                </a:lnTo>
                <a:lnTo>
                  <a:pt x="728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648200" y="3914775"/>
            <a:ext cx="762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75">
                <a:solidFill>
                  <a:srgbClr val="F97316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562600" y="3914775"/>
            <a:ext cx="6019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93B"/>
                </a:solidFill>
                <a:latin typeface="Microsoft YaHei"/>
                <a:ea typeface="Microsoft YaHei"/>
              </a:rPr>
              <a:t>技術アーキテクチャとデプロイ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562600" y="4219575"/>
            <a:ext cx="6019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MediaPipe + Flask + Socket.IO + Agnes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648200" y="4867275"/>
            <a:ext cx="6934200" cy="752475"/>
          </a:xfrm>
          <a:custGeom>
            <a:pathLst>
              <a:path w="728" h="79">
                <a:moveTo>
                  <a:pt x="0" y="78"/>
                </a:moveTo>
                <a:lnTo>
                  <a:pt x="728" y="78"/>
                </a:lnTo>
                <a:lnTo>
                  <a:pt x="728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648200" y="4867275"/>
            <a:ext cx="762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75">
                <a:solidFill>
                  <a:srgbClr val="F97316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562600" y="4867275"/>
            <a:ext cx="6019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93B"/>
                </a:solidFill>
                <a:latin typeface="Microsoft YaHei"/>
                <a:ea typeface="Microsoft YaHei"/>
              </a:rPr>
              <a:t>ハイライトと価値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562600" y="5172075"/>
            <a:ext cx="6019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3つの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数字で、その魅力を一目で。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空中ジェスチャーキャンバス・プロジェクト紹介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09600" y="53340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00100" y="571500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64748B"/>
                </a:solidFill>
                <a:latin typeface="Microsoft YaHei"/>
                <a:ea typeface="Microsoft YaHei"/>
              </a:rPr>
              <a:t>01・プロジェクトの</a:t>
            </a:r>
            <a:r>
              <a:rPr lang="zh-CN" sz="1200" spc="225">
                <a:solidFill>
                  <a:srgbClr val="64748B"/>
                </a:solidFill>
                <a:latin typeface="Microsoft YaHei"/>
                <a:ea typeface="Microsoft YaHei"/>
              </a:rPr>
              <a:t>位置づけ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06B6D4"/>
                </a:solidFill>
                <a:latin typeface="Microsoft YaHei"/>
                <a:ea typeface="Microsoft YaHei"/>
              </a:rPr>
              <a:t>AIR · GESTURE · CANVAS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09600" y="2352675"/>
            <a:ext cx="6667500" cy="1314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14999"/>
              </a:lnSpc>
            </a:pPr>
            <a:r>
              <a:rPr lang="zh-CN" sz="3750" b="1">
                <a:solidFill>
                  <a:srgbClr val="1E293B"/>
                </a:solidFill>
                <a:latin typeface="Microsoft YaHei"/>
                <a:ea typeface="Microsoft YaHei"/>
              </a:rPr>
              <a:t>カメラひとつで、空気を</a:t>
            </a:r>
            <a:r>
              <a:rPr lang="zh-CN" sz="3750" b="1">
                <a:solidFill>
                  <a:srgbClr val="4F46E5"/>
                </a:solidFill>
                <a:latin typeface="Microsoft YaHei"/>
                <a:ea typeface="Microsoft YaHei"/>
              </a:rPr>
              <a:t>協働できる</a:t>
            </a:r>
            <a:r>
              <a:rPr lang="zh-CN" sz="3750" b="1">
                <a:solidFill>
                  <a:srgbClr val="1E293B"/>
                </a:solidFill>
                <a:latin typeface="Microsoft YaHei"/>
                <a:ea typeface="Microsoft YaHei"/>
              </a:rPr>
              <a:t>キャンバスに。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09600" y="389572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9600" y="4181475"/>
            <a:ext cx="66675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MediaPipe Hands で21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個の手指関節をリアルタイムに追跡し、ジェスチャーを筆に変換します。</a:t>
            </a:r>
            <a:endParaRPr/>
          </a:p>
          <a:p>
            <a:pPr>
              <a:lnSpc>
                <a:spcPct val="165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Socket.IO による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多人同期と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 Agnes Image の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画像生成を組み合わせ、ブラウザ上の落書きを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生きた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作品にします。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7962900" y="1866900"/>
            <a:ext cx="3619500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8134350" y="20383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4F46E5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239125" y="2143125"/>
            <a:ext cx="209550" cy="209550"/>
          </a:xfrm>
          <a:prstGeom prst="rect">
            <a:avLst/>
          </a:prstGeom>
          <a:ln/>
        </p:spPr>
      </p:pic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686800" y="2038350"/>
            <a:ext cx="2724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デバイス不要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686800" y="2324100"/>
            <a:ext cx="2724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カメラとブラウザさえあればOK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。マウスもキーボードも不要。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7962900" y="3181350"/>
            <a:ext cx="3619500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8134350" y="33528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4F46E5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239125" y="3457575"/>
            <a:ext cx="209550" cy="209550"/>
          </a:xfrm>
          <a:prstGeom prst="rect">
            <a:avLst/>
          </a:prstGeom>
          <a:ln/>
        </p:spPr>
      </p:pic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686800" y="3352800"/>
            <a:ext cx="2724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そのまま協働対応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686800" y="3638550"/>
            <a:ext cx="2724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同じルーム＝同じキャンバス。多人でリアルタイムに共同制作。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7962900" y="4495800"/>
            <a:ext cx="3619500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8134350" y="46672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4F46E5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239125" y="4772025"/>
            <a:ext cx="209550" cy="209550"/>
          </a:xfrm>
          <a:prstGeom prst="rect">
            <a:avLst/>
          </a:prstGeom>
          <a:ln/>
        </p:spPr>
      </p:pic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686800" y="4667250"/>
            <a:ext cx="2724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制作がひとつのサイクルに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686800" y="4953000"/>
            <a:ext cx="2724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落書きを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AIでワンクリック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、公開可能な作品へ。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空中ジェスチャーキャンバス・プロジェクト紹介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53340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00100" y="571500"/>
            <a:ext cx="1390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64748B"/>
                </a:solidFill>
                <a:latin typeface="Microsoft YaHei"/>
                <a:ea typeface="Microsoft YaHei"/>
              </a:rPr>
              <a:t>02・コア</a:t>
            </a:r>
            <a:r>
              <a:rPr lang="zh-CN" sz="1200" spc="225">
                <a:solidFill>
                  <a:srgbClr val="64748B"/>
                </a:solidFill>
                <a:latin typeface="Microsoft YaHei"/>
                <a:ea typeface="Microsoft YaHei"/>
              </a:rPr>
              <a:t>機能</a:t>
            </a:r>
            <a:r>
              <a:rPr lang="en-US" sz="1200" spc="225">
                <a:solidFill>
                  <a:srgbClr val="64748B"/>
                </a:solidFill>
                <a:latin typeface="Microsoft YaHei"/>
                <a:ea typeface="Microsoft YaHei"/>
              </a:rPr>
              <a:t> ①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277100" y="1628775"/>
            <a:ext cx="43053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E293B"/>
                </a:solidFill>
                <a:latin typeface="Microsoft YaHei"/>
                <a:ea typeface="Microsoft YaHei"/>
              </a:rPr>
              <a:t>空中ジェスチャー描画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277100" y="2257425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150">
                <a:solidFill>
                  <a:srgbClr val="06B6D4"/>
                </a:solidFill>
                <a:latin typeface="Microsoft YaHei"/>
                <a:ea typeface="Microsoft YaHei"/>
              </a:rPr>
              <a:t>PAINT IN THE AIR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277100" y="2619375"/>
            <a:ext cx="457200" cy="28575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277100" y="2800350"/>
            <a:ext cx="43053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カメラの前で手を上げ、人差し指をつまむと筆が下りる。充実したツールバーと組み合わせれば、物理的な入力機器は一切不要。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7277100" y="35814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53300" y="3657600"/>
            <a:ext cx="152400" cy="152400"/>
          </a:xfrm>
          <a:prstGeom prst="rect">
            <a:avLst/>
          </a:prstGeom>
          <a:ln/>
        </p:spPr>
      </p:pic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696200" y="36385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色の選択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7277100" y="39814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53300" y="4057650"/>
            <a:ext cx="152400" cy="152400"/>
          </a:xfrm>
          <a:prstGeom prst="rect">
            <a:avLst/>
          </a:prstGeom>
          <a:ln/>
        </p:spPr>
      </p:pic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696200" y="40386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線幅の切り替え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277100" y="43815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353300" y="4457700"/>
            <a:ext cx="152400" cy="152400"/>
          </a:xfrm>
          <a:prstGeom prst="rect">
            <a:avLst/>
          </a:prstGeom>
          <a:ln/>
        </p:spPr>
      </p:pic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696200" y="443865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消しゴムモード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7277100" y="47815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353300" y="4857750"/>
            <a:ext cx="152400" cy="152400"/>
          </a:xfrm>
          <a:prstGeom prst="rect">
            <a:avLst/>
          </a:prstGeom>
          <a:ln/>
        </p:spPr>
      </p:pic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696200" y="483870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ワンクリック元に戻す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7277100" y="51816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353300" y="5257800"/>
            <a:ext cx="152400" cy="152400"/>
          </a:xfrm>
          <a:prstGeom prst="rect">
            <a:avLst/>
          </a:prstGeom>
          <a:ln/>
        </p:spPr>
      </p:pic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696200" y="52387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キャンバスを消去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7277100" y="55816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353300" y="5657850"/>
            <a:ext cx="152400" cy="152400"/>
          </a:xfrm>
          <a:prstGeom prst="rect">
            <a:avLst/>
          </a:prstGeom>
          <a:ln/>
        </p:spPr>
      </p:pic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696200" y="56388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ローカル保存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空中ジェスチャーキャンバス・プロジェクト紹介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09600" y="1219200"/>
            <a:ext cx="6286500" cy="5067300"/>
          </a:xfrm>
          <a:prstGeom prst="roundRect">
            <a:avLst>
              <a:gd name="adj" fmla="val 3383"/>
            </a:avLst>
          </a:prstGeom>
          <a:ln/>
          <a:effectLst>
            <a:outerShdw blurRad="342900" dist="114300" dir="5400000">
              <a:srgbClr val="0F172A">
                <a:alpha val="18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170" name=""/>
          <p:cNvPicPr>
            <a:picLocks noChangeAspect="1"/>
          </p:cNvPicPr>
          <p:nvPr/>
        </p:nvPicPr>
        <p:blipFill>
          <a:blip r:embed="rId7"/>
          <a:srcRect l="0" t="9696" r="0" b="9696"/>
          <a:stretch>
            <a:fillRect/>
          </a:stretch>
        </p:blipFill>
        <p:spPr>
          <a:xfrm rot="0" flipH="0" flipV="0">
            <a:off x="609600" y="1219200"/>
            <a:ext cx="6286500" cy="5067300"/>
          </a:xfrm>
          <a:custGeom>
            <a:pathLst>
              <a:path w="660" h="532">
                <a:moveTo>
                  <a:pt x="642" y="0"/>
                </a:moveTo>
                <a:cubicBezTo>
                  <a:pt x="652" y="0"/>
                  <a:pt x="660" y="8"/>
                  <a:pt x="660" y="18"/>
                </a:cubicBezTo>
                <a:lnTo>
                  <a:pt x="660" y="514"/>
                </a:lnTo>
                <a:cubicBezTo>
                  <a:pt x="660" y="524"/>
                  <a:pt x="652" y="532"/>
                  <a:pt x="642" y="532"/>
                </a:cubicBezTo>
                <a:lnTo>
                  <a:pt x="18" y="532"/>
                </a:lnTo>
                <a:cubicBezTo>
                  <a:pt x="8" y="532"/>
                  <a:pt x="0" y="524"/>
                  <a:pt x="0" y="514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642" y="0"/>
                </a:lnTo>
                <a:close/>
              </a:path>
            </a:pathLst>
          </a:custGeom>
          <a:ln/>
        </p:spPr>
      </p:pic>
      <p:sp>
        <p:nvSpPr>
          <p:cNvPr id="171" name=""/>
          <p:cNvSpPr/>
          <p:nvPr/>
        </p:nvSpPr>
        <p:spPr>
          <a:xfrm rot="0" flipH="0" flipV="0">
            <a:off x="609600" y="5048250"/>
            <a:ext cx="6286500" cy="1238250"/>
          </a:xfrm>
          <a:custGeom>
            <a:pathLst>
              <a:path w="660" h="130">
                <a:moveTo>
                  <a:pt x="660" y="112"/>
                </a:moveTo>
                <a:cubicBezTo>
                  <a:pt x="660" y="122"/>
                  <a:pt x="652" y="130"/>
                  <a:pt x="642" y="130"/>
                </a:cubicBezTo>
                <a:lnTo>
                  <a:pt x="18" y="130"/>
                </a:lnTo>
                <a:cubicBezTo>
                  <a:pt x="8" y="130"/>
                  <a:pt x="0" y="122"/>
                  <a:pt x="0" y="112"/>
                </a:cubicBezTo>
                <a:lnTo>
                  <a:pt x="0" y="0"/>
                </a:lnTo>
                <a:lnTo>
                  <a:pt x="660" y="0"/>
                </a:lnTo>
                <a:close/>
              </a:path>
            </a:pathLst>
          </a:custGeom>
          <a:gradFill>
            <a:gsLst>
              <a:gs pos="0">
                <a:srgbClr val="0F172A">
                  <a:alpha val="85000"/>
                </a:srgbClr>
              </a:gs>
              <a:gs pos="100000">
                <a:srgbClr val="0F172A">
                  <a:alpha val="0"/>
                </a:srgbClr>
              </a:gs>
            </a:gsLst>
            <a:lin ang="16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838200" y="5943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009650" y="5886450"/>
            <a:ext cx="2581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>MEDIAPIPE・LIVE TRACKING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" y="53340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00100" y="571500"/>
            <a:ext cx="2581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64748B"/>
                </a:solidFill>
                <a:latin typeface="Microsoft YaHei"/>
                <a:ea typeface="Microsoft YaHei"/>
              </a:rPr>
              <a:t>02・ジェスチャー</a:t>
            </a:r>
            <a:r>
              <a:rPr lang="zh-CN" sz="1200" spc="225">
                <a:solidFill>
                  <a:srgbClr val="64748B"/>
                </a:solidFill>
                <a:latin typeface="Microsoft YaHei"/>
                <a:ea typeface="Microsoft YaHei"/>
              </a:rPr>
              <a:t>認識の仕組み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09600" y="1219200"/>
            <a:ext cx="10972800" cy="3048000"/>
          </a:xfrm>
          <a:prstGeom prst="roundRect">
            <a:avLst>
              <a:gd name="adj" fmla="val 5625"/>
            </a:avLst>
          </a:prstGeom>
          <a:gradFill>
            <a:gsLst>
              <a:gs pos="0">
                <a:srgbClr val="EEF2FF"/>
              </a:gs>
              <a:gs pos="100000">
                <a:srgbClr val="ECFEFF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179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2247900" y="1219200"/>
            <a:ext cx="2286000" cy="3048000"/>
          </a:xfrm>
          <a:prstGeom prst="rect">
            <a:avLst/>
          </a:prstGeom>
          <a:ln/>
        </p:spPr>
      </p:pic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991100" y="1685925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06B6D4"/>
                </a:solidFill>
                <a:latin typeface="Microsoft YaHei"/>
                <a:ea typeface="Microsoft YaHei"/>
              </a:rPr>
              <a:t>MEDIAPIPE HANDS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991100" y="2009775"/>
            <a:ext cx="4953000" cy="971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各フレームで手指の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> </a:t>
            </a:r>
            <a:r>
              <a:rPr lang="en-US" sz="2550" b="1">
                <a:solidFill>
                  <a:srgbClr val="F97316"/>
                </a:solidFill>
                <a:latin typeface="Microsoft YaHei"/>
                <a:ea typeface="Microsoft YaHei"/>
              </a:rPr>
              <a:t>21</a:t>
            </a:r>
            <a:r>
              <a:rPr lang="en-US" sz="2550" b="1">
                <a:solidFill>
                  <a:srgbClr val="1E293B"/>
                </a:solidFill>
                <a:latin typeface="Microsoft YaHei"/>
                <a:ea typeface="Microsoft YaHei"/>
              </a:rPr>
              <a:t> </a:t>
            </a:r>
            <a:r>
              <a:rPr lang="zh-CN" sz="2550" b="1">
                <a:solidFill>
                  <a:srgbClr val="1E293B"/>
                </a:solidFill>
                <a:latin typeface="Microsoft YaHei"/>
                <a:ea typeface="Microsoft YaHei"/>
              </a:rPr>
              <a:t>個の関節を認識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991100" y="3133725"/>
            <a:ext cx="4953000" cy="666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ブラウザ上で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> WebAssembly + WebGL によりモデルを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実行。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通信不要、プラグイン不要、</a:t>
            </a:r>
            <a:r>
              <a:rPr lang="en-US" sz="1275">
                <a:solidFill>
                  <a:srgbClr val="475569"/>
                </a:solidFill>
                <a:latin typeface="Microsoft YaHei"/>
                <a:ea typeface="Microsoft YaHei"/>
              </a:rPr>
              <a:t>1フレーム10ms</a:t>
            </a:r>
            <a:r>
              <a:rPr lang="zh-CN" sz="1275">
                <a:solidFill>
                  <a:srgbClr val="475569"/>
                </a:solidFill>
                <a:latin typeface="Microsoft YaHei"/>
                <a:ea typeface="Microsoft YaHei"/>
              </a:rPr>
              <a:t>未満。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47700" y="4476750"/>
            <a:ext cx="3505200" cy="1219200"/>
          </a:xfrm>
          <a:prstGeom prst="roundRect">
            <a:avLst>
              <a:gd name="adj" fmla="val 10938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47700" y="4476750"/>
            <a:ext cx="3505200" cy="1219200"/>
          </a:xfrm>
          <a:custGeom>
            <a:pathLst>
              <a:path w="368" h="128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118"/>
                </a:lnTo>
                <a:cubicBezTo>
                  <a:pt x="4" y="122"/>
                  <a:pt x="7" y="126"/>
                  <a:pt x="11" y="128"/>
                </a:cubicBezTo>
                <a:cubicBezTo>
                  <a:pt x="5" y="126"/>
                  <a:pt x="0" y="121"/>
                  <a:pt x="0" y="114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38200" y="4667250"/>
            <a:ext cx="4857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 spc="75">
                <a:solidFill>
                  <a:srgbClr val="4F46E5"/>
                </a:solidFill>
                <a:latin typeface="Microsoft YaHei"/>
                <a:ea typeface="Microsoft YaHei"/>
              </a:rPr>
              <a:t>21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400175" y="4667250"/>
            <a:ext cx="609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個の関節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38200" y="5248275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手首から指先まで、全関節をカバー。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4381500" y="4476750"/>
            <a:ext cx="3505200" cy="1219200"/>
          </a:xfrm>
          <a:prstGeom prst="roundRect">
            <a:avLst>
              <a:gd name="adj" fmla="val 10938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4381500" y="4476750"/>
            <a:ext cx="3505200" cy="1219200"/>
          </a:xfrm>
          <a:custGeom>
            <a:pathLst>
              <a:path w="368" h="128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118"/>
                </a:lnTo>
                <a:cubicBezTo>
                  <a:pt x="4" y="122"/>
                  <a:pt x="7" y="126"/>
                  <a:pt x="11" y="128"/>
                </a:cubicBezTo>
                <a:cubicBezTo>
                  <a:pt x="5" y="126"/>
                  <a:pt x="0" y="121"/>
                  <a:pt x="0" y="114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572000" y="4667250"/>
            <a:ext cx="1371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 spc="75">
                <a:solidFill>
                  <a:srgbClr val="4F46E5"/>
                </a:solidFill>
                <a:latin typeface="Microsoft YaHei"/>
                <a:ea typeface="Microsoft YaHei"/>
              </a:rPr>
              <a:t>&lt;10ms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19800" y="4667250"/>
            <a:ext cx="914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フレーム遅延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572000" y="5248275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ローカル推論で、コマ落ちなし。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8115300" y="4476750"/>
            <a:ext cx="3505200" cy="1219200"/>
          </a:xfrm>
          <a:prstGeom prst="roundRect">
            <a:avLst>
              <a:gd name="adj" fmla="val 10938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8115300" y="4476750"/>
            <a:ext cx="3505200" cy="1219200"/>
          </a:xfrm>
          <a:custGeom>
            <a:pathLst>
              <a:path w="368" h="128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118"/>
                </a:lnTo>
                <a:cubicBezTo>
                  <a:pt x="4" y="122"/>
                  <a:pt x="7" y="126"/>
                  <a:pt x="11" y="128"/>
                </a:cubicBezTo>
                <a:cubicBezTo>
                  <a:pt x="5" y="126"/>
                  <a:pt x="0" y="121"/>
                  <a:pt x="0" y="114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305800" y="4667250"/>
            <a:ext cx="2476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 spc="75">
                <a:solidFill>
                  <a:srgbClr val="4F46E5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629650" y="4667250"/>
            <a:ext cx="609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追加依存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305800" y="5248275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カメラ＋ブラウザで動作。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空中ジェスチャーキャンバス・プロジェクト紹介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09600" y="53340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00100" y="571500"/>
            <a:ext cx="1390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64748B"/>
                </a:solidFill>
                <a:latin typeface="Microsoft YaHei"/>
                <a:ea typeface="Microsoft YaHei"/>
              </a:rPr>
              <a:t>03・コア</a:t>
            </a:r>
            <a:r>
              <a:rPr lang="zh-CN" sz="1200" spc="225">
                <a:solidFill>
                  <a:srgbClr val="64748B"/>
                </a:solidFill>
                <a:latin typeface="Microsoft YaHei"/>
                <a:ea typeface="Microsoft YaHei"/>
              </a:rPr>
              <a:t>機能</a:t>
            </a:r>
            <a:r>
              <a:rPr lang="en-US" sz="1200" spc="225">
                <a:solidFill>
                  <a:srgbClr val="64748B"/>
                </a:solidFill>
                <a:latin typeface="Microsoft YaHei"/>
                <a:ea typeface="Microsoft YaHei"/>
              </a:rPr>
              <a:t> ②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277100" y="1333500"/>
            <a:ext cx="43053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E293B"/>
                </a:solidFill>
                <a:latin typeface="Microsoft YaHei"/>
                <a:ea typeface="Microsoft YaHei"/>
              </a:rPr>
              <a:t>多人リアルタイム協働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277100" y="1962150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150">
                <a:solidFill>
                  <a:srgbClr val="06B6D4"/>
                </a:solidFill>
                <a:latin typeface="Microsoft YaHei"/>
                <a:ea typeface="Microsoft YaHei"/>
              </a:rPr>
              <a:t>DRAW TOGETHER, INSTANTLY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7277100" y="2324100"/>
            <a:ext cx="457200" cy="28575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277100" y="2524125"/>
            <a:ext cx="43053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Flask-SocketIO により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、同じルーム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>(room)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内のすべてのクライアントを同一キャンバスに接続。新しい参加者は自動で履歴を受信し、オフラインは自動で削除。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7277100" y="3667125"/>
            <a:ext cx="4305300" cy="762000"/>
          </a:xfrm>
          <a:prstGeom prst="roundRect">
            <a:avLst>
              <a:gd name="adj" fmla="val 12500"/>
            </a:avLst>
          </a:prstGeom>
          <a:solidFill>
            <a:srgbClr val="4F46E5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7410450" y="38004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96175" y="3886200"/>
            <a:ext cx="171450" cy="171450"/>
          </a:xfrm>
          <a:prstGeom prst="rect">
            <a:avLst/>
          </a:prstGeom>
          <a:ln/>
        </p:spPr>
      </p:pic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867650" y="3800475"/>
            <a:ext cx="3581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ルームで分離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867650" y="4048125"/>
            <a:ext cx="3581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同じルーム＝同じキャンバス。お互いに干渉しない。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7277100" y="4543425"/>
            <a:ext cx="4305300" cy="762000"/>
          </a:xfrm>
          <a:prstGeom prst="roundRect">
            <a:avLst>
              <a:gd name="adj" fmla="val 12500"/>
            </a:avLst>
          </a:prstGeom>
          <a:solidFill>
            <a:srgbClr val="4F46E5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7410450" y="46767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96175" y="4762500"/>
            <a:ext cx="171450" cy="171450"/>
          </a:xfrm>
          <a:prstGeom prst="rect">
            <a:avLst/>
          </a:prstGeom>
          <a:ln/>
        </p:spPr>
      </p:pic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867650" y="4676775"/>
            <a:ext cx="3581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オンラインメンバーを即時表示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867650" y="4924425"/>
            <a:ext cx="3581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左側のメンバーリストで、誰が描いているか一目了然。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7277100" y="5419725"/>
            <a:ext cx="4305300" cy="762000"/>
          </a:xfrm>
          <a:prstGeom prst="roundRect">
            <a:avLst>
              <a:gd name="adj" fmla="val 12500"/>
            </a:avLst>
          </a:prstGeom>
          <a:solidFill>
            <a:srgbClr val="4F46E5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7410450" y="55530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496175" y="5638800"/>
            <a:ext cx="171450" cy="171450"/>
          </a:xfrm>
          <a:prstGeom prst="rect">
            <a:avLst/>
          </a:prstGeom>
          <a:ln/>
        </p:spPr>
      </p:pic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7867650" y="5553075"/>
            <a:ext cx="3581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293B"/>
                </a:solidFill>
                <a:latin typeface="Microsoft YaHei"/>
                <a:ea typeface="Microsoft YaHei"/>
              </a:rPr>
              <a:t>draw_line を</a:t>
            </a: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即時ブロードキャスト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867650" y="5800725"/>
            <a:ext cx="3581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ミリ秒単位の同期。取り消し／消去は全員に反映。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空中ジェスチャーキャンバス・プロジェクト紹介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09600" y="1219200"/>
            <a:ext cx="6286500" cy="5067300"/>
          </a:xfrm>
          <a:prstGeom prst="roundRect">
            <a:avLst>
              <a:gd name="adj" fmla="val 3383"/>
            </a:avLst>
          </a:prstGeom>
          <a:ln/>
          <a:effectLst>
            <a:outerShdw blurRad="342900" dist="114300" dir="5400000">
              <a:srgbClr val="0F172A">
                <a:alpha val="18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226" name=""/>
          <p:cNvPicPr>
            <a:picLocks noChangeAspect="1"/>
          </p:cNvPicPr>
          <p:nvPr/>
        </p:nvPicPr>
        <p:blipFill>
          <a:blip r:embed="rId4"/>
          <a:srcRect l="0" t="9696" r="0" b="9696"/>
          <a:stretch>
            <a:fillRect/>
          </a:stretch>
        </p:blipFill>
        <p:spPr>
          <a:xfrm rot="0" flipH="0" flipV="0">
            <a:off x="609600" y="1219200"/>
            <a:ext cx="6286500" cy="5067300"/>
          </a:xfrm>
          <a:custGeom>
            <a:pathLst>
              <a:path w="660" h="532">
                <a:moveTo>
                  <a:pt x="642" y="0"/>
                </a:moveTo>
                <a:cubicBezTo>
                  <a:pt x="652" y="0"/>
                  <a:pt x="660" y="8"/>
                  <a:pt x="660" y="18"/>
                </a:cubicBezTo>
                <a:lnTo>
                  <a:pt x="660" y="514"/>
                </a:lnTo>
                <a:cubicBezTo>
                  <a:pt x="660" y="524"/>
                  <a:pt x="652" y="532"/>
                  <a:pt x="642" y="532"/>
                </a:cubicBezTo>
                <a:lnTo>
                  <a:pt x="18" y="532"/>
                </a:lnTo>
                <a:cubicBezTo>
                  <a:pt x="8" y="532"/>
                  <a:pt x="0" y="524"/>
                  <a:pt x="0" y="514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642" y="0"/>
                </a:lnTo>
                <a:close/>
              </a:path>
            </a:pathLst>
          </a:custGeom>
          <a:ln/>
        </p:spPr>
      </p:pic>
      <p:sp>
        <p:nvSpPr>
          <p:cNvPr id="227" name=""/>
          <p:cNvSpPr/>
          <p:nvPr/>
        </p:nvSpPr>
        <p:spPr>
          <a:xfrm rot="0" flipH="0" flipV="0">
            <a:off x="609600" y="5048250"/>
            <a:ext cx="6286500" cy="1238250"/>
          </a:xfrm>
          <a:custGeom>
            <a:pathLst>
              <a:path w="660" h="130">
                <a:moveTo>
                  <a:pt x="660" y="112"/>
                </a:moveTo>
                <a:cubicBezTo>
                  <a:pt x="660" y="122"/>
                  <a:pt x="652" y="130"/>
                  <a:pt x="642" y="130"/>
                </a:cubicBezTo>
                <a:lnTo>
                  <a:pt x="18" y="130"/>
                </a:lnTo>
                <a:cubicBezTo>
                  <a:pt x="8" y="130"/>
                  <a:pt x="0" y="122"/>
                  <a:pt x="0" y="112"/>
                </a:cubicBezTo>
                <a:lnTo>
                  <a:pt x="0" y="0"/>
                </a:lnTo>
                <a:lnTo>
                  <a:pt x="660" y="0"/>
                </a:lnTo>
                <a:close/>
              </a:path>
            </a:pathLst>
          </a:custGeom>
          <a:gradFill>
            <a:gsLst>
              <a:gs pos="0">
                <a:srgbClr val="0F172A">
                  <a:alpha val="85000"/>
                </a:srgbClr>
              </a:gs>
              <a:gs pos="100000">
                <a:srgbClr val="0F172A">
                  <a:alpha val="0"/>
                </a:srgbClr>
              </a:gs>
            </a:gsLst>
            <a:lin ang="16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838200" y="5943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009650" y="5886450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>SOCKET.IO · REAL-TIME SYNC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09600" y="53340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00100" y="571500"/>
            <a:ext cx="2581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64748B"/>
                </a:solidFill>
                <a:latin typeface="Microsoft YaHei"/>
                <a:ea typeface="Microsoft YaHei"/>
              </a:rPr>
              <a:t>03・リアルタイム</a:t>
            </a:r>
            <a:r>
              <a:rPr lang="zh-CN" sz="1200" spc="225">
                <a:solidFill>
                  <a:srgbClr val="64748B"/>
                </a:solidFill>
                <a:latin typeface="Microsoft YaHei"/>
                <a:ea typeface="Microsoft YaHei"/>
              </a:rPr>
              <a:t>同期の仕組み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" y="1219200"/>
            <a:ext cx="7048500" cy="5067300"/>
          </a:xfrm>
          <a:prstGeom prst="roundRect">
            <a:avLst>
              <a:gd name="adj" fmla="val 3383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3057525" y="1905000"/>
            <a:ext cx="2152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06B6D4"/>
                </a:solidFill>
                <a:latin typeface="Microsoft YaHei"/>
                <a:ea typeface="Microsoft YaHei"/>
              </a:rPr>
              <a:t>SOCKET.IO EVENT FLOW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2876550" y="2152650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ひとつの操作の全体フロー</a:t>
            </a:r>
            <a:endParaRPr/>
          </a:p>
        </p:txBody>
      </p:sp>
      <p:pic>
        <p:nvPicPr>
          <p:cNvPr id="237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990600" y="2562225"/>
            <a:ext cx="6667500" cy="3048000"/>
          </a:xfrm>
          <a:prstGeom prst="rect">
            <a:avLst/>
          </a:prstGeom>
          <a:ln/>
        </p:spPr>
      </p:pic>
      <p:sp>
        <p:nvSpPr>
          <p:cNvPr id="238" name=""/>
          <p:cNvSpPr/>
          <p:nvPr/>
        </p:nvSpPr>
        <p:spPr>
          <a:xfrm rot="0" flipH="0" flipV="0">
            <a:off x="7962900" y="1533525"/>
            <a:ext cx="3619500" cy="2400300"/>
          </a:xfrm>
          <a:prstGeom prst="roundRect">
            <a:avLst>
              <a:gd name="adj" fmla="val 5556"/>
            </a:avLst>
          </a:prstGeom>
          <a:gradFill>
            <a:gsLst>
              <a:gs pos="0">
                <a:srgbClr val="4F46E5">
                  <a:alpha val="1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4F46E5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153400" y="1724025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150">
                <a:solidFill>
                  <a:srgbClr val="4F46E5"/>
                </a:solidFill>
                <a:latin typeface="Microsoft YaHei"/>
                <a:ea typeface="Microsoft YaHei"/>
              </a:rPr>
              <a:t>INSIGHT・インサイト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153400" y="2009775"/>
            <a:ext cx="3238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Microsoft YaHei"/>
                <a:ea typeface="Microsoft YaHei"/>
              </a:rPr>
              <a:t>サーバーは「ブロードキャスター」だけ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153400" y="2609850"/>
            <a:ext cx="3238500" cy="1133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 b="1">
                <a:solidFill>
                  <a:srgbClr val="F97316"/>
                </a:solidFill>
                <a:latin typeface="Microsoft YaHei"/>
                <a:ea typeface="Microsoft YaHei"/>
              </a:rPr>
              <a:t>gevent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+ GeventWebSocketWorker により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単一プロセスで同時接続をさばく。状態はルーム辞書にのみ保持：</a:t>
            </a:r>
            <a:endParaRPr/>
          </a:p>
          <a:p>
            <a:pPr>
              <a:lnSpc>
                <a:spcPct val="165000"/>
              </a:lnSpc>
            </a:pPr>
            <a:r>
              <a:rPr lang="en-US" sz="1125">
                <a:solidFill>
                  <a:srgbClr val="4F46E5"/>
                </a:solidFill>
                <a:latin typeface="Microsoft YaHei"/>
                <a:ea typeface="Microsoft YaHei"/>
              </a:rPr>
              <a:t>action_history / room_members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962900" y="4086225"/>
            <a:ext cx="3619500" cy="990600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8096250" y="42195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81975" y="4305300"/>
            <a:ext cx="171450" cy="171450"/>
          </a:xfrm>
          <a:prstGeom prst="rect">
            <a:avLst/>
          </a:prstGeom>
          <a:ln/>
        </p:spPr>
      </p:pic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553450" y="4219575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ミリ秒単位の同期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553450" y="4457700"/>
            <a:ext cx="2895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描画イベント→ブロードキャスト→全端に筆が下りる。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7962900" y="5229225"/>
            <a:ext cx="3619500" cy="752475"/>
          </a:xfrm>
          <a:prstGeom prst="roundRect">
            <a:avLst>
              <a:gd name="adj" fmla="val 12658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8096250" y="53625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181975" y="5448300"/>
            <a:ext cx="171450" cy="171450"/>
          </a:xfrm>
          <a:prstGeom prst="rect">
            <a:avLst/>
          </a:prstGeom>
          <a:ln/>
        </p:spPr>
      </p:pic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553450" y="5362575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新メンバーのシームレスな参加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553450" y="5600700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参加と同時に履歴を受信。待ち時間ゼロ。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空中ジェスチャーキャンバス・プロジェクト紹介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09600" y="53340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00100" y="571500"/>
            <a:ext cx="2657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94A3B8"/>
                </a:solidFill>
                <a:latin typeface="Microsoft YaHei"/>
                <a:ea typeface="Microsoft YaHei"/>
              </a:rPr>
              <a:t>04・コア</a:t>
            </a:r>
            <a:r>
              <a:rPr lang="zh-CN" sz="1200" spc="225">
                <a:solidFill>
                  <a:srgbClr val="94A3B8"/>
                </a:solidFill>
                <a:latin typeface="Microsoft YaHei"/>
                <a:ea typeface="Microsoft YaHei"/>
              </a:rPr>
              <a:t>機能</a:t>
            </a:r>
            <a:r>
              <a:rPr lang="en-US" sz="1200" spc="225">
                <a:solidFill>
                  <a:srgbClr val="94A3B8"/>
                </a:solidFill>
                <a:latin typeface="Microsoft YaHei"/>
                <a:ea typeface="Microsoft YaHei"/>
              </a:rPr>
              <a:t> ③・HIGHLIGHT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277100" y="1219200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F97316"/>
                </a:solidFill>
                <a:latin typeface="Microsoft YaHei"/>
                <a:ea typeface="Microsoft YaHei"/>
              </a:rPr>
              <a:t>AGNES IMAGE・</a:t>
            </a:r>
            <a:r>
              <a:rPr lang="zh-CN" sz="1350" b="1" spc="225">
                <a:solidFill>
                  <a:srgbClr val="F97316"/>
                </a:solidFill>
                <a:latin typeface="Microsoft YaHei"/>
                <a:ea typeface="Microsoft YaHei"/>
              </a:rPr>
              <a:t>画像から画像生成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277100" y="1543050"/>
            <a:ext cx="43053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14999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落書きをワンクリックで</a:t>
            </a:r>
            <a:r>
              <a:rPr lang="en-US" sz="3150" b="1">
                <a:solidFill>
                  <a:srgbClr val="F97316"/>
                </a:solidFill>
                <a:latin typeface="Microsoft YaHei"/>
                <a:ea typeface="Microsoft YaHei"/>
              </a:rPr>
              <a:t>"</a:t>
            </a:r>
            <a:r>
              <a:rPr lang="zh-CN" sz="3150" b="1">
                <a:solidFill>
                  <a:srgbClr val="F97316"/>
                </a:solidFill>
                <a:latin typeface="Microsoft YaHei"/>
                <a:ea typeface="Microsoft YaHei"/>
              </a:rPr>
              <a:t>絵</a:t>
            </a:r>
            <a:r>
              <a:rPr lang="en-US" sz="3150" b="1">
                <a:solidFill>
                  <a:srgbClr val="F97316"/>
                </a:solidFill>
                <a:latin typeface="Microsoft YaHei"/>
                <a:ea typeface="Microsoft YaHei"/>
              </a:rPr>
              <a:t>"に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7277100" y="280035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277100" y="2990850"/>
            <a:ext cx="430530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キャンバスを自動で白背景</a:t>
            </a:r>
            <a:r>
              <a:rPr lang="en-US" sz="11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PNGに</a:t>
            </a:r>
            <a:r>
              <a:rPr lang="zh-CN" sz="11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書き出し、</a:t>
            </a:r>
            <a:r>
              <a:rPr lang="en-US" sz="1125" b="1">
                <a:solidFill>
                  <a:srgbClr val="06B6D4"/>
                </a:solidFill>
                <a:latin typeface="Microsoft YaHei"/>
                <a:ea typeface="Microsoft YaHei"/>
              </a:rPr>
              <a:t>AGNES_API_KEY</a:t>
            </a:r>
            <a:r>
              <a:rPr lang="en-US" sz="11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 を</a:t>
            </a:r>
            <a:r>
              <a:rPr lang="zh-CN" sz="11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通じて</a:t>
            </a:r>
            <a:r>
              <a:rPr lang="en-US" sz="11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 Agnes Image API と</a:t>
            </a:r>
            <a:r>
              <a:rPr lang="zh-CN" sz="11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接続。</a:t>
            </a:r>
            <a:endParaRPr/>
          </a:p>
          <a:p>
            <a:pPr>
              <a:lnSpc>
                <a:spcPct val="155000"/>
              </a:lnSpc>
            </a:pPr>
            <a:r>
              <a:rPr lang="zh-CN" sz="11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プロンプト＋スタイル／サイズ／モデルを選ぶだけで、数秒で完成品を取得。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7277100" y="4229100"/>
            <a:ext cx="4305300" cy="676275"/>
          </a:xfrm>
          <a:prstGeom prst="roundRect">
            <a:avLst>
              <a:gd name="adj" fmla="val 1408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7391400" y="43434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77125" y="4429125"/>
            <a:ext cx="161925" cy="161925"/>
          </a:xfrm>
          <a:prstGeom prst="rect">
            <a:avLst/>
          </a:prstGeom>
          <a:ln/>
        </p:spPr>
      </p:pic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829550" y="4343400"/>
            <a:ext cx="3638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白背景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PNGを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書き出し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829550" y="4572000"/>
            <a:ext cx="3638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透明キャンバス→クリーンな入力画像。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7277100" y="5000625"/>
            <a:ext cx="4305300" cy="676275"/>
          </a:xfrm>
          <a:prstGeom prst="roundRect">
            <a:avLst>
              <a:gd name="adj" fmla="val 1408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7391400" y="51149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77125" y="5200650"/>
            <a:ext cx="161925" cy="161925"/>
          </a:xfrm>
          <a:prstGeom prst="rect">
            <a:avLst/>
          </a:prstGeom>
          <a:ln/>
        </p:spPr>
      </p:pic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829550" y="5114925"/>
            <a:ext cx="3638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サイズ／モデル選択可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7829550" y="5343525"/>
            <a:ext cx="3638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1024×1024 / 1024×768 / 768×1024</a:t>
            </a:r>
            <a:r>
              <a:rPr lang="zh-CN" sz="975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7277100" y="5772150"/>
            <a:ext cx="4305300" cy="676275"/>
          </a:xfrm>
          <a:prstGeom prst="roundRect">
            <a:avLst>
              <a:gd name="adj" fmla="val 1408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7391400" y="58864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477125" y="5972175"/>
            <a:ext cx="161925" cy="161925"/>
          </a:xfrm>
          <a:prstGeom prst="rect">
            <a:avLst/>
          </a:prstGeom>
          <a:ln/>
        </p:spPr>
      </p:pic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829550" y="5886450"/>
            <a:ext cx="3638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AGNES_IMAGE_MODELS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829550" y="6115050"/>
            <a:ext cx="36385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agnes-image-2.1-flash / 2.0-flash</a:t>
            </a:r>
            <a:r>
              <a:rPr lang="zh-CN" sz="975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空中ジェスチャーキャンバス・プロジェクト紹介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11728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09600" y="1219200"/>
            <a:ext cx="6286500" cy="5229225"/>
          </a:xfrm>
          <a:prstGeom prst="roundRect">
            <a:avLst>
              <a:gd name="adj" fmla="val 3279"/>
            </a:avLst>
          </a:prstGeom>
          <a:ln/>
          <a:effectLst>
            <a:outerShdw blurRad="381000" dist="114300" dir="5400000">
              <a:srgbClr val="F97316">
                <a:alpha val="25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280" name=""/>
          <p:cNvPicPr>
            <a:picLocks noChangeAspect="1"/>
          </p:cNvPicPr>
          <p:nvPr/>
        </p:nvPicPr>
        <p:blipFill>
          <a:blip r:embed="rId4"/>
          <a:srcRect l="0" t="8409" r="0" b="8409"/>
          <a:stretch>
            <a:fillRect/>
          </a:stretch>
        </p:blipFill>
        <p:spPr>
          <a:xfrm rot="0" flipH="0" flipV="0">
            <a:off x="609600" y="1219200"/>
            <a:ext cx="6286500" cy="5229225"/>
          </a:xfrm>
          <a:custGeom>
            <a:pathLst>
              <a:path w="660" h="549">
                <a:moveTo>
                  <a:pt x="642" y="0"/>
                </a:moveTo>
                <a:cubicBezTo>
                  <a:pt x="652" y="0"/>
                  <a:pt x="660" y="8"/>
                  <a:pt x="660" y="18"/>
                </a:cubicBezTo>
                <a:lnTo>
                  <a:pt x="660" y="531"/>
                </a:lnTo>
                <a:cubicBezTo>
                  <a:pt x="660" y="541"/>
                  <a:pt x="652" y="549"/>
                  <a:pt x="642" y="549"/>
                </a:cubicBezTo>
                <a:lnTo>
                  <a:pt x="18" y="549"/>
                </a:lnTo>
                <a:cubicBezTo>
                  <a:pt x="8" y="549"/>
                  <a:pt x="0" y="541"/>
                  <a:pt x="0" y="531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lnTo>
                  <a:pt x="642" y="0"/>
                </a:lnTo>
                <a:close/>
              </a:path>
            </a:pathLst>
          </a:custGeom>
          <a:ln/>
        </p:spPr>
      </p:pic>
      <p:sp>
        <p:nvSpPr>
          <p:cNvPr id="281" name=""/>
          <p:cNvSpPr/>
          <p:nvPr/>
        </p:nvSpPr>
        <p:spPr>
          <a:xfrm rot="0" flipH="0" flipV="0">
            <a:off x="609600" y="5305425"/>
            <a:ext cx="6286500" cy="1143000"/>
          </a:xfrm>
          <a:custGeom>
            <a:pathLst>
              <a:path w="660" h="120">
                <a:moveTo>
                  <a:pt x="660" y="102"/>
                </a:moveTo>
                <a:cubicBezTo>
                  <a:pt x="660" y="112"/>
                  <a:pt x="652" y="120"/>
                  <a:pt x="642" y="120"/>
                </a:cubicBezTo>
                <a:lnTo>
                  <a:pt x="18" y="120"/>
                </a:lnTo>
                <a:cubicBezTo>
                  <a:pt x="8" y="120"/>
                  <a:pt x="0" y="112"/>
                  <a:pt x="0" y="102"/>
                </a:cubicBezTo>
                <a:lnTo>
                  <a:pt x="0" y="0"/>
                </a:lnTo>
                <a:lnTo>
                  <a:pt x="660" y="0"/>
                </a:lnTo>
                <a:close/>
              </a:path>
            </a:pathLst>
          </a:custGeom>
          <a:gradFill>
            <a:gsLst>
              <a:gs pos="0">
                <a:srgbClr val="0F172A">
                  <a:alpha val="85000"/>
                </a:srgbClr>
              </a:gs>
              <a:gs pos="100000">
                <a:srgbClr val="0F172A">
                  <a:alpha val="0"/>
                </a:srgbClr>
              </a:gs>
            </a:gsLst>
            <a:lin ang="16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838200" y="6105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009650" y="6048375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>SKETCH → AI ART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09600" y="53340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800100" y="571500"/>
            <a:ext cx="2038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64748B"/>
                </a:solidFill>
                <a:latin typeface="Microsoft YaHei"/>
                <a:ea typeface="Microsoft YaHei"/>
              </a:rPr>
              <a:t>05・</a:t>
            </a:r>
            <a:r>
              <a:rPr lang="zh-CN" sz="1200" spc="225">
                <a:solidFill>
                  <a:srgbClr val="64748B"/>
                </a:solidFill>
                <a:latin typeface="Microsoft YaHei"/>
                <a:ea typeface="Microsoft YaHei"/>
              </a:rPr>
              <a:t>技術アーキテクチャ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609600" y="1219200"/>
            <a:ext cx="7239000" cy="5067300"/>
          </a:xfrm>
          <a:prstGeom prst="roundRect">
            <a:avLst>
              <a:gd name="adj" fmla="val 3383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2905125" y="1579126"/>
            <a:ext cx="264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06B6D4"/>
                </a:solidFill>
                <a:latin typeface="Microsoft YaHei"/>
                <a:ea typeface="Microsoft YaHei"/>
              </a:rPr>
              <a:t>THREE-LAYER ARCHITECTURE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743075" y="1962150"/>
            <a:ext cx="4972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93B"/>
                </a:solidFill>
                <a:latin typeface="Microsoft YaHei"/>
                <a:ea typeface="Microsoft YaHei"/>
              </a:rPr>
              <a:t>フロントエンド／バックエンド／</a:t>
            </a:r>
            <a:r>
              <a:rPr lang="en-US" sz="1575" b="1">
                <a:solidFill>
                  <a:srgbClr val="1E293B"/>
                </a:solidFill>
                <a:latin typeface="Microsoft YaHei"/>
                <a:ea typeface="Microsoft YaHei"/>
              </a:rPr>
              <a:t>AIサービス 3</a:t>
            </a:r>
            <a:r>
              <a:rPr lang="zh-CN" sz="1575" b="1">
                <a:solidFill>
                  <a:srgbClr val="1E293B"/>
                </a:solidFill>
                <a:latin typeface="Microsoft YaHei"/>
                <a:ea typeface="Microsoft YaHei"/>
              </a:rPr>
              <a:t>層の協働</a:t>
            </a:r>
            <a:endParaRPr/>
          </a:p>
        </p:txBody>
      </p:sp>
      <p:pic>
        <p:nvPicPr>
          <p:cNvPr id="291" name=""/>
          <p:cNvPicPr>
            <a:picLocks noChangeAspect="1"/>
          </p:cNvPicPr>
          <p:nvPr/>
        </p:nvPicPr>
        <p:blipFill>
          <a:blip r:embed="rId1"/>
          <a:srcRect l="15447" t="0" r="15447" b="0"/>
          <a:stretch>
            <a:fillRect/>
          </a:stretch>
        </p:blipFill>
        <p:spPr>
          <a:xfrm rot="0" flipH="0" flipV="0">
            <a:off x="800100" y="1876425"/>
            <a:ext cx="6858000" cy="4686300"/>
          </a:xfrm>
          <a:prstGeom prst="rect">
            <a:avLst/>
          </a:prstGeom>
          <a:ln/>
        </p:spPr>
      </p:pic>
      <p:sp>
        <p:nvSpPr>
          <p:cNvPr id="292" name=""/>
          <p:cNvSpPr/>
          <p:nvPr/>
        </p:nvSpPr>
        <p:spPr>
          <a:xfrm rot="0" flipH="0" flipV="0">
            <a:off x="8153400" y="1943100"/>
            <a:ext cx="3429000" cy="1828800"/>
          </a:xfrm>
          <a:prstGeom prst="roundRect">
            <a:avLst>
              <a:gd name="adj" fmla="val 7292"/>
            </a:avLst>
          </a:prstGeom>
          <a:gradFill>
            <a:gsLst>
              <a:gs pos="0">
                <a:srgbClr val="4F46E5">
                  <a:alpha val="10000"/>
                </a:srgbClr>
              </a:gs>
              <a:gs pos="100000">
                <a:srgbClr val="F97316">
                  <a:alpha val="10000"/>
                </a:srgbClr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324850" y="2114550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150">
                <a:solidFill>
                  <a:srgbClr val="4F46E5"/>
                </a:solidFill>
                <a:latin typeface="Microsoft YaHei"/>
                <a:ea typeface="Microsoft YaHei"/>
              </a:rPr>
              <a:t>INSIGHT・アーキテクチャの</a:t>
            </a:r>
            <a:r>
              <a:rPr lang="zh-CN" sz="1200" b="1" spc="150">
                <a:solidFill>
                  <a:srgbClr val="4F46E5"/>
                </a:solidFill>
                <a:latin typeface="Microsoft YaHei"/>
                <a:ea typeface="Microsoft YaHei"/>
              </a:rPr>
              <a:t>特徴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324850" y="2381250"/>
            <a:ext cx="30861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1E293B"/>
                </a:solidFill>
                <a:latin typeface="Microsoft YaHei"/>
                <a:ea typeface="Microsoft YaHei"/>
              </a:rPr>
              <a:t>軽量フルスタック、最小限の依存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324850" y="2800350"/>
            <a:ext cx="30861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データベースもメッセージキューもなし。</a:t>
            </a:r>
            <a:endParaRPr/>
          </a:p>
          <a:p>
            <a:pPr>
              <a:lnSpc>
                <a:spcPct val="165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単一ファイル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app.py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約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270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行で全体のロジックが動作。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8181975" y="3924300"/>
            <a:ext cx="3429000" cy="742950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8181975" y="3924300"/>
            <a:ext cx="3429000" cy="742950"/>
          </a:xfrm>
          <a:custGeom>
            <a:pathLst>
              <a:path w="360" h="78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71"/>
                </a:lnTo>
                <a:cubicBezTo>
                  <a:pt x="3" y="74"/>
                  <a:pt x="5" y="77"/>
                  <a:pt x="8" y="78"/>
                </a:cubicBezTo>
                <a:cubicBezTo>
                  <a:pt x="3" y="77"/>
                  <a:pt x="0" y="73"/>
                  <a:pt x="0" y="6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315325" y="4057650"/>
            <a:ext cx="3133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>requirements.txt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315325" y="428625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依存はわずか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6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個。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8181975" y="4819650"/>
            <a:ext cx="3429000" cy="742950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8181975" y="4819650"/>
            <a:ext cx="3429000" cy="742950"/>
          </a:xfrm>
          <a:custGeom>
            <a:pathLst>
              <a:path w="360" h="78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71"/>
                </a:lnTo>
                <a:cubicBezTo>
                  <a:pt x="3" y="74"/>
                  <a:pt x="5" y="77"/>
                  <a:pt x="8" y="78"/>
                </a:cubicBezTo>
                <a:cubicBezTo>
                  <a:pt x="3" y="77"/>
                  <a:pt x="0" y="73"/>
                  <a:pt x="0" y="6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315325" y="4953000"/>
            <a:ext cx="3133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単一プロセスでデプロイ可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315325" y="5181600"/>
            <a:ext cx="31337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gunicorn + geventwebsocket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空中ジェスチャーキャンバス・プロジェクト紹介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09600" y="53340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00100" y="57150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64748B"/>
                </a:solidFill>
                <a:latin typeface="Microsoft YaHei"/>
                <a:ea typeface="Microsoft YaHei"/>
              </a:rPr>
              <a:t>05・デプロイと</a:t>
            </a:r>
            <a:r>
              <a:rPr lang="zh-CN" sz="1200" spc="225">
                <a:solidFill>
                  <a:srgbClr val="64748B"/>
                </a:solidFill>
                <a:latin typeface="Microsoft YaHei"/>
                <a:ea typeface="Microsoft YaHei"/>
              </a:rPr>
              <a:t>実行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9600" y="22479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06B6D4"/>
                </a:solidFill>
                <a:latin typeface="Microsoft YaHei"/>
                <a:ea typeface="Microsoft YaHei"/>
              </a:rPr>
              <a:t>DEPLOY・RUN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3238500" cy="1266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14999"/>
              </a:lnSpc>
            </a:pPr>
            <a:r>
              <a:rPr lang="en-US" sz="3600" b="1">
                <a:solidFill>
                  <a:srgbClr val="4F46E5"/>
                </a:solidFill>
                <a:latin typeface="Microsoft YaHei"/>
                <a:ea typeface="Microsoft YaHei"/>
              </a:rPr>
              <a:t>3ステップ</a:t>
            </a:r>
            <a:r>
              <a:rPr lang="zh-CN" sz="3600" b="1">
                <a:solidFill>
                  <a:srgbClr val="1E293B"/>
                </a:solidFill>
                <a:latin typeface="Microsoft YaHei"/>
                <a:ea typeface="Microsoft YaHei"/>
              </a:rPr>
              <a:t>で開始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09600" y="401002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09600" y="4238625"/>
            <a:ext cx="32385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ローカルはコマンドひとつで体験でき、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Procfile 1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行でクラウドへ。</a:t>
            </a:r>
            <a:endParaRPr/>
          </a:p>
        </p:txBody>
      </p:sp>
      <p:pic>
        <p:nvPicPr>
          <p:cNvPr id="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5095875"/>
            <a:ext cx="171450" cy="171450"/>
          </a:xfrm>
          <a:prstGeom prst="rect">
            <a:avLst/>
          </a:prstGeom>
          <a:ln/>
        </p:spPr>
      </p:pic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57250" y="51054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Python 3.12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以上とカメラが必要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4229100" y="1847850"/>
            <a:ext cx="735330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4229100" y="1847850"/>
            <a:ext cx="685800" cy="1181100"/>
          </a:xfrm>
          <a:custGeom>
            <a:pathLst>
              <a:path w="72" h="124">
                <a:moveTo>
                  <a:pt x="72" y="124"/>
                </a:moveTo>
                <a:lnTo>
                  <a:pt x="12" y="124"/>
                </a:lnTo>
                <a:cubicBezTo>
                  <a:pt x="5" y="124"/>
                  <a:pt x="0" y="119"/>
                  <a:pt x="0" y="1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72" y="0"/>
                </a:lnTo>
                <a:close/>
              </a:path>
            </a:pathLst>
          </a:custGeom>
          <a:gradFill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410075" y="2276475"/>
            <a:ext cx="3238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75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086350" y="1981200"/>
            <a:ext cx="632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依存のインストール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5086350" y="2276475"/>
            <a:ext cx="6324600" cy="314325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200650" y="2352675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6B6D4"/>
                </a:solidFill>
                <a:latin typeface="Inter"/>
                <a:ea typeface="Inter"/>
              </a:rPr>
              <a:t>pip install -r requirements.txt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086350" y="2667000"/>
            <a:ext cx="6324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Flask・Flask-SocketIO・gevent・gevent-websocket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4229100" y="3162300"/>
            <a:ext cx="735330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4229100" y="3162300"/>
            <a:ext cx="685800" cy="1181100"/>
          </a:xfrm>
          <a:custGeom>
            <a:pathLst>
              <a:path w="72" h="124">
                <a:moveTo>
                  <a:pt x="72" y="124"/>
                </a:moveTo>
                <a:lnTo>
                  <a:pt x="12" y="124"/>
                </a:lnTo>
                <a:cubicBezTo>
                  <a:pt x="5" y="124"/>
                  <a:pt x="0" y="119"/>
                  <a:pt x="0" y="1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72" y="0"/>
                </a:lnTo>
                <a:close/>
              </a:path>
            </a:pathLst>
          </a:custGeom>
          <a:gradFill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410075" y="3590925"/>
            <a:ext cx="3238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75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086350" y="3295650"/>
            <a:ext cx="632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環境変数の設定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5086350" y="3590925"/>
            <a:ext cx="6324600" cy="314325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200650" y="3667125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6B6D4"/>
                </a:solidFill>
                <a:latin typeface="Inter"/>
                <a:ea typeface="Inter"/>
              </a:rPr>
              <a:t>AGNES_API_KEY="あなたのキー"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086350" y="3981450"/>
            <a:ext cx="6324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.env.example を .env にコピーして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記入。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229100" y="4476750"/>
            <a:ext cx="735330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229100" y="4476750"/>
            <a:ext cx="685800" cy="1181100"/>
          </a:xfrm>
          <a:custGeom>
            <a:pathLst>
              <a:path w="72" h="124">
                <a:moveTo>
                  <a:pt x="72" y="124"/>
                </a:moveTo>
                <a:lnTo>
                  <a:pt x="12" y="124"/>
                </a:lnTo>
                <a:cubicBezTo>
                  <a:pt x="5" y="124"/>
                  <a:pt x="0" y="119"/>
                  <a:pt x="0" y="11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72" y="0"/>
                </a:lnTo>
                <a:close/>
              </a:path>
            </a:pathLst>
          </a:custGeom>
          <a:gradFill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410075" y="4905375"/>
            <a:ext cx="3238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75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086350" y="4610100"/>
            <a:ext cx="632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サービスの起動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5086350" y="4905375"/>
            <a:ext cx="6324600" cy="314325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200650" y="4981575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6B6D4"/>
                </a:solidFill>
                <a:latin typeface="Inter"/>
                <a:ea typeface="Inter"/>
              </a:rPr>
              <a:t>python app.py → http://127.0.0.1:5000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086350" y="5295900"/>
            <a:ext cx="6324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または Procfile + gunicorn + geventwebsocket で Heroku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系プラットフォームへデプロイ。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空中ジェスチャーキャンバス・プロジェクト紹介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09600" y="53340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00100" y="571500"/>
            <a:ext cx="2581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64748B"/>
                </a:solidFill>
                <a:latin typeface="Microsoft YaHei"/>
                <a:ea typeface="Microsoft YaHei"/>
              </a:rPr>
              <a:t>06・プロジェクトのハイライト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1314450"/>
            <a:ext cx="3000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06B6D4"/>
                </a:solidFill>
                <a:latin typeface="Microsoft YaHei"/>
                <a:ea typeface="Microsoft YaHei"/>
              </a:rPr>
              <a:t>THREE NUMBERS・3つの</a:t>
            </a:r>
            <a:r>
              <a:rPr lang="zh-CN" sz="1350" b="1" spc="225">
                <a:solidFill>
                  <a:srgbClr val="06B6D4"/>
                </a:solidFill>
                <a:latin typeface="Microsoft YaHei"/>
                <a:ea typeface="Microsoft YaHei"/>
              </a:rPr>
              <a:t>数字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3705225" y="1314450"/>
            <a:ext cx="3810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838575" y="1314450"/>
            <a:ext cx="2200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225">
                <a:solidFill>
                  <a:srgbClr val="F97316"/>
                </a:solidFill>
                <a:latin typeface="Microsoft YaHei"/>
                <a:ea typeface="Microsoft YaHei"/>
              </a:rPr>
              <a:t>このプロジェクトを知る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09600" y="1657350"/>
            <a:ext cx="109728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E293B"/>
                </a:solidFill>
                <a:latin typeface="Microsoft YaHei"/>
                <a:ea typeface="Microsoft YaHei"/>
              </a:rPr>
              <a:t>何が面白いのか？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09600" y="2552700"/>
            <a:ext cx="3457575" cy="2867025"/>
          </a:xfrm>
          <a:prstGeom prst="roundRect">
            <a:avLst>
              <a:gd name="adj" fmla="val 5980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09600" y="2552700"/>
            <a:ext cx="3457575" cy="2867025"/>
          </a:xfrm>
          <a:custGeom>
            <a:pathLst>
              <a:path w="363" h="301">
                <a:moveTo>
                  <a:pt x="346" y="0"/>
                </a:moveTo>
                <a:cubicBezTo>
                  <a:pt x="354" y="0"/>
                  <a:pt x="361" y="6"/>
                  <a:pt x="362" y="14"/>
                </a:cubicBezTo>
                <a:cubicBezTo>
                  <a:pt x="361" y="8"/>
                  <a:pt x="355" y="4"/>
                  <a:pt x="349" y="4"/>
                </a:cubicBezTo>
                <a:lnTo>
                  <a:pt x="14" y="4"/>
                </a:lnTo>
                <a:cubicBezTo>
                  <a:pt x="8" y="4"/>
                  <a:pt x="2" y="8"/>
                  <a:pt x="0" y="14"/>
                </a:cubicBezTo>
                <a:cubicBezTo>
                  <a:pt x="2" y="6"/>
                  <a:pt x="9" y="0"/>
                  <a:pt x="18" y="0"/>
                </a:cubicBezTo>
                <a:lnTo>
                  <a:pt x="345" y="0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38200" y="2781300"/>
            <a:ext cx="100012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 spc="75">
                <a:solidFill>
                  <a:srgbClr val="4F46E5"/>
                </a:solidFill>
                <a:latin typeface="Microsoft YaHei"/>
                <a:ea typeface="Microsoft YaHei"/>
              </a:rPr>
              <a:t>21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895475" y="2781300"/>
            <a:ext cx="41910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4F46E5"/>
                </a:solidFill>
                <a:latin typeface="Microsoft YaHei"/>
                <a:ea typeface="Microsoft YaHei"/>
              </a:rPr>
              <a:t>関節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38200" y="4105275"/>
            <a:ext cx="3000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93B"/>
                </a:solidFill>
                <a:latin typeface="Microsoft YaHei"/>
                <a:ea typeface="Microsoft YaHei"/>
              </a:rPr>
              <a:t>手指の関節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38200" y="4429125"/>
            <a:ext cx="3000375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指先から手首まで全関節を追跡し、
「ジェスチャー」をプログラム可能な筆へ。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371975" y="2552700"/>
            <a:ext cx="3448050" cy="2867025"/>
          </a:xfrm>
          <a:prstGeom prst="roundRect">
            <a:avLst>
              <a:gd name="adj" fmla="val 5980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4371975" y="2552700"/>
            <a:ext cx="3448050" cy="2867025"/>
          </a:xfrm>
          <a:custGeom>
            <a:pathLst>
              <a:path w="362" h="301">
                <a:moveTo>
                  <a:pt x="345" y="0"/>
                </a:moveTo>
                <a:cubicBezTo>
                  <a:pt x="353" y="0"/>
                  <a:pt x="360" y="6"/>
                  <a:pt x="361" y="14"/>
                </a:cubicBezTo>
                <a:cubicBezTo>
                  <a:pt x="360" y="8"/>
                  <a:pt x="354" y="4"/>
                  <a:pt x="348" y="4"/>
                </a:cubicBezTo>
                <a:lnTo>
                  <a:pt x="14" y="4"/>
                </a:lnTo>
                <a:cubicBezTo>
                  <a:pt x="8" y="4"/>
                  <a:pt x="2" y="8"/>
                  <a:pt x="0" y="14"/>
                </a:cubicBezTo>
                <a:cubicBezTo>
                  <a:pt x="2" y="6"/>
                  <a:pt x="9" y="0"/>
                  <a:pt x="18" y="0"/>
                </a:cubicBezTo>
                <a:lnTo>
                  <a:pt x="344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600575" y="2781300"/>
            <a:ext cx="201930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 spc="75">
                <a:solidFill>
                  <a:srgbClr val="06B6D4"/>
                </a:solidFill>
                <a:latin typeface="Microsoft YaHei"/>
                <a:ea typeface="Microsoft YaHei"/>
              </a:rPr>
              <a:t>&lt;100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677025" y="2781300"/>
            <a:ext cx="30480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Microsoft YaHei"/>
                <a:ea typeface="Microsoft YaHei"/>
              </a:rPr>
              <a:t>ms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600575" y="4105275"/>
            <a:ext cx="2990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93B"/>
                </a:solidFill>
                <a:latin typeface="Microsoft YaHei"/>
                <a:ea typeface="Microsoft YaHei"/>
              </a:rPr>
              <a:t>端末間同期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600575" y="4429125"/>
            <a:ext cx="299085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draw_line を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同じルームの全員へ即時ブロードキャスト。
遠隔共同描画も遅延を感じない。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8124825" y="2552700"/>
            <a:ext cx="3457575" cy="2867025"/>
          </a:xfrm>
          <a:prstGeom prst="roundRect">
            <a:avLst>
              <a:gd name="adj" fmla="val 5980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8124825" y="2552700"/>
            <a:ext cx="3457575" cy="2867025"/>
          </a:xfrm>
          <a:custGeom>
            <a:pathLst>
              <a:path w="363" h="301">
                <a:moveTo>
                  <a:pt x="346" y="0"/>
                </a:moveTo>
                <a:cubicBezTo>
                  <a:pt x="354" y="0"/>
                  <a:pt x="361" y="6"/>
                  <a:pt x="362" y="14"/>
                </a:cubicBezTo>
                <a:cubicBezTo>
                  <a:pt x="361" y="8"/>
                  <a:pt x="355" y="4"/>
                  <a:pt x="349" y="4"/>
                </a:cubicBezTo>
                <a:lnTo>
                  <a:pt x="14" y="4"/>
                </a:lnTo>
                <a:cubicBezTo>
                  <a:pt x="8" y="4"/>
                  <a:pt x="2" y="8"/>
                  <a:pt x="0" y="14"/>
                </a:cubicBezTo>
                <a:cubicBezTo>
                  <a:pt x="2" y="6"/>
                  <a:pt x="9" y="0"/>
                  <a:pt x="18" y="0"/>
                </a:cubicBezTo>
                <a:lnTo>
                  <a:pt x="345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353425" y="2781300"/>
            <a:ext cx="50482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 spc="75">
                <a:solidFill>
                  <a:srgbClr val="F97316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915400" y="2781300"/>
            <a:ext cx="35242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97316"/>
                </a:solidFill>
                <a:latin typeface="Microsoft YaHei"/>
                <a:ea typeface="Microsoft YaHei"/>
              </a:rPr>
              <a:t>API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353425" y="4105275"/>
            <a:ext cx="3000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E293B"/>
                </a:solidFill>
                <a:latin typeface="Microsoft YaHei"/>
                <a:ea typeface="Microsoft YaHei"/>
              </a:rPr>
              <a:t>AI</a:t>
            </a:r>
            <a:r>
              <a:rPr lang="zh-CN" sz="1575" b="1">
                <a:solidFill>
                  <a:srgbClr val="1E293B"/>
                </a:solidFill>
                <a:latin typeface="Microsoft YaHei"/>
                <a:ea typeface="Microsoft YaHei"/>
              </a:rPr>
              <a:t>画像生成への接続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353425" y="4429125"/>
            <a:ext cx="3000375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Agnes Image を1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回呼ぶだけで、
手書きの落書きを公開可能な作品に。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09600" y="5648325"/>
            <a:ext cx="10972800" cy="542925"/>
          </a:xfrm>
          <a:prstGeom prst="roundRect">
            <a:avLst>
              <a:gd name="adj" fmla="val 17544"/>
            </a:avLst>
          </a:prstGeom>
          <a:gradFill>
            <a:gsLst>
              <a:gs pos="0">
                <a:srgbClr val="4F46E5">
                  <a:alpha val="8000"/>
                </a:srgbClr>
              </a:gs>
              <a:gs pos="100000">
                <a:srgbClr val="06B6D4">
                  <a:alpha val="8000"/>
                </a:srgbClr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2950" y="5819775"/>
            <a:ext cx="209550" cy="209550"/>
          </a:xfrm>
          <a:prstGeom prst="rect">
            <a:avLst/>
          </a:prstGeom>
          <a:ln/>
        </p:spPr>
      </p:pic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066800" y="5781675"/>
            <a:ext cx="5486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E293B"/>
                </a:solidFill>
                <a:latin typeface="Microsoft YaHei"/>
                <a:ea typeface="Microsoft YaHei"/>
              </a:rPr>
              <a:t>一言で：</a:t>
            </a:r>
            <a:r>
              <a:rPr lang="zh-CN" sz="1200" b="1">
                <a:solidFill>
                  <a:srgbClr val="4F46E5"/>
                </a:solidFill>
                <a:latin typeface="Microsoft YaHei"/>
                <a:ea typeface="Microsoft YaHei"/>
              </a:rPr>
              <a:t>描くという行為を、指先から空気へ、そして</a:t>
            </a:r>
            <a:r>
              <a:rPr lang="en-US" sz="1200" b="1">
                <a:solidFill>
                  <a:srgbClr val="4F46E5"/>
                </a:solidFill>
                <a:latin typeface="Microsoft YaHei"/>
                <a:ea typeface="Microsoft YaHei"/>
              </a:rPr>
              <a:t>AIへとバトンタッチする</a:t>
            </a:r>
            <a:r>
              <a:rPr lang="zh-CN" sz="1200" b="1">
                <a:solidFill>
                  <a:srgbClr val="4F46E5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空中ジェスチャーキャンバス・プロジェクト紹介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182350" y="64008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838200" y="3971925"/>
            <a:ext cx="342900" cy="19050"/>
          </a:xfrm>
          <a:prstGeom prst="rect">
            <a:avLst/>
          </a:prstGeom>
          <a:solidFill>
            <a:srgbClr val="4F46E5">
              <a:alpha val="4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4600575" y="3971925"/>
            <a:ext cx="342900" cy="19050"/>
          </a:xfrm>
          <a:prstGeom prst="rect">
            <a:avLst/>
          </a:prstGeom>
          <a:solidFill>
            <a:srgbClr val="06B6D4">
              <a:alpha val="4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353425" y="3971925"/>
            <a:ext cx="342900" cy="19050"/>
          </a:xfrm>
          <a:prstGeom prst="rect">
            <a:avLst/>
          </a:prstGeom>
          <a:solidFill>
            <a:srgbClr val="F97316">
              <a:alpha val="40000"/>
            </a:srgbClr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1B4B"/>
              </a:gs>
              <a:gs pos="50000">
                <a:srgbClr val="0F172A"/>
              </a:gs>
              <a:gs pos="100000">
                <a:srgbClr val="0C4A6E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3" name=""/>
          <p:cNvSpPr/>
          <p:nvPr/>
        </p:nvSpPr>
        <p:spPr>
          <a:xfrm rot="0" flipH="0" flipV="0">
            <a:off x="762000" y="1905000"/>
            <a:ext cx="8382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62000" y="2228850"/>
            <a:ext cx="71151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spc="4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THANK YOU FOR WATCHING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62000" y="2724150"/>
            <a:ext cx="7115175" cy="21145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6300" b="1" spc="150">
                <a:solidFill>
                  <a:srgbClr val="FFFFFF"/>
                </a:solidFill>
                <a:latin typeface="Microsoft YaHei"/>
                <a:ea typeface="Microsoft YaHei"/>
              </a:rPr>
              <a:t>一緒に、空気を</a:t>
            </a:r>
            <a:endParaRPr/>
          </a:p>
          <a:p>
            <a:pPr>
              <a:lnSpc>
                <a:spcPct val="110000"/>
              </a:lnSpc>
            </a:pPr>
            <a:r>
              <a:rPr lang="zh-CN" sz="6300" b="1" spc="150">
                <a:solidFill>
                  <a:srgbClr val="FFFFFF"/>
                </a:solidFill>
                <a:latin typeface="Microsoft YaHei"/>
                <a:ea typeface="Microsoft YaHei"/>
              </a:rPr>
              <a:t>キャンバスに。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62000" y="5105400"/>
            <a:ext cx="7115175" cy="8572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本プロジェクトはオープンソース。ぜひ</a:t>
            </a:r>
            <a:r>
              <a:rPr lang="en-US" sz="165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 clone して</a:t>
            </a:r>
            <a:r>
              <a:rPr lang="zh-CN" sz="165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動かしてみてください。</a:t>
            </a:r>
            <a:endParaRPr/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カメラとブラウザがあれば十分です。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762000" y="5981700"/>
            <a:ext cx="342900" cy="342900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47725" y="6067425"/>
            <a:ext cx="171450" cy="171450"/>
          </a:xfrm>
          <a:prstGeom prst="rect">
            <a:avLst/>
          </a:prstGeom>
          <a:ln/>
        </p:spPr>
      </p:pic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238250" y="6057900"/>
            <a:ext cx="2409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python app.py・</a:t>
            </a:r>
            <a:r>
              <a:rPr lang="zh-CN" sz="1200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今すぐ始める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039475" y="6162675"/>
            <a:ext cx="542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12 / 12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2026-07-28T14:36:45Z</dcterms:created>
  <dcterms:modified xsi:type="dcterms:W3CDTF">2026-07-28T14:36:45Z</dcterms:modified>
</cp:coreProperties>
</file>